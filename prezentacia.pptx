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100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17815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 titulný slide doplňte mená tímu a prípadne fotku/krátke video z dema.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Tip: pri deme ukážte postup: auto pred → otvoriť → auto vo vnútri → zatvoriť → log na SD.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 tomto slide môžete priamo ukázať blokovú schému (ak máte vlastný obrázok).
Miesto pre vlastnú schému: nahradiť karty jedným obrázkom cez Insert → Pictures.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Ak máte vlastnú fotku reálneho zapojenia na breadboarde, vložte ju sem (vedľa schémy).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 motor je najsilnejšie ukázať: (1) stavový automat, (2) PWM hodnoty, (3) manuálne tlačidlo.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Ak sa vás spýtajú „prečo časované otváranie“, odpoveď: použili sme continuous servo (nie polohové), preto riadime čas behu.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Ak bude otázka na presnosť: threshold a filtrovanie sa dajú doladiť (aktuálne DISTANCE_THRESHOLD je nastavený nízko pre demo).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CAR_BOTH znamená „auto v prechode“ (senzory ho vidia naraz). Logika v main.c s tým počíta ako s „inside“.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Ak je otázka „prečo sa loguje až keď servo stojí“: počas pohybu môže byť rušenie/prúdové špičky → bezpečnejšie zapisovať mimo pohybu.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Dobrý moment: ukázať reálny LOG2.TXT po deme.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Tento slide je zámerne pripravený ako „koláž“ pre vaše modely. Vložte 4 obrázky a prípadne dopíšte popisy.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Ak nebude čas, ukážte len rámec a vysvetlite checksum + heartbeat (to je najzaujímavejšie).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Ak LCD nefunguje, prvé čo skontrolovať: I2C adresa (0x27/0x3F), pull-upy, a mapovanie pinov (DOMCO_LCD_MAP).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LED modul je neblokujúci: DomcoLED_Process() preblikáva podľa HAL_GetTick().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 konci odporúčam ukázať reálny log súbor a krátke video dema.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 tomto slide spustite demo alebo puste krátke video.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3" name="Shape 1"/>
          <p:cNvSpPr/>
          <p:nvPr/>
        </p:nvSpPr>
        <p:spPr>
          <a:xfrm>
            <a:off x="777392" y="1479884"/>
            <a:ext cx="10637215" cy="371231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3314F"/>
            </a:solidFill>
            <a:prstDash val="solid"/>
          </a:ln>
          <a:effectLst>
            <a:outerShdw blurRad="127000" dist="254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sk-SK"/>
          </a:p>
        </p:txBody>
      </p:sp>
      <p:sp>
        <p:nvSpPr>
          <p:cNvPr id="4" name="Text 2"/>
          <p:cNvSpPr/>
          <p:nvPr/>
        </p:nvSpPr>
        <p:spPr>
          <a:xfrm>
            <a:off x="1234592" y="2174768"/>
            <a:ext cx="97228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INTELIGENTNÁ GARÁŽ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1234592" y="3043448"/>
            <a:ext cx="97228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Automatické otváranie/zatváranie brány • </a:t>
            </a:r>
            <a:r>
              <a:rPr lang="sk-SK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r>
              <a:rPr lang="en-US" sz="18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ogovanie</a:t>
            </a: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na SD • UI cez druhé STM</a:t>
            </a:r>
            <a:endParaRPr lang="en-US" sz="1800" dirty="0"/>
          </a:p>
        </p:txBody>
      </p:sp>
      <p:grpSp>
        <p:nvGrpSpPr>
          <p:cNvPr id="9" name="Skupina 8">
            <a:extLst>
              <a:ext uri="{FF2B5EF4-FFF2-40B4-BE49-F238E27FC236}">
                <a16:creationId xmlns:a16="http://schemas.microsoft.com/office/drawing/2014/main" id="{9D944D9D-F9E2-1DA2-80BE-0798076F2FB1}"/>
              </a:ext>
            </a:extLst>
          </p:cNvPr>
          <p:cNvGrpSpPr/>
          <p:nvPr/>
        </p:nvGrpSpPr>
        <p:grpSpPr>
          <a:xfrm>
            <a:off x="1319235" y="4493299"/>
            <a:ext cx="6355957" cy="429768"/>
            <a:chOff x="1021578" y="3330560"/>
            <a:chExt cx="3475768" cy="548640"/>
          </a:xfrm>
        </p:grpSpPr>
        <p:sp>
          <p:nvSpPr>
            <p:cNvPr id="6" name="Shape 4"/>
            <p:cNvSpPr/>
            <p:nvPr/>
          </p:nvSpPr>
          <p:spPr>
            <a:xfrm>
              <a:off x="1021578" y="3330560"/>
              <a:ext cx="3475768" cy="548640"/>
            </a:xfrm>
            <a:prstGeom prst="roundRect">
              <a:avLst/>
            </a:prstGeom>
            <a:solidFill>
              <a:srgbClr val="38BDF8"/>
            </a:solidFill>
            <a:ln w="12700">
              <a:solidFill>
                <a:srgbClr val="38BDF8"/>
              </a:solidFill>
              <a:prstDash val="solid"/>
            </a:ln>
          </p:spPr>
          <p:txBody>
            <a:bodyPr/>
            <a:lstStyle/>
            <a:p>
              <a:endParaRPr lang="sk-SK"/>
            </a:p>
          </p:txBody>
        </p:sp>
        <p:sp>
          <p:nvSpPr>
            <p:cNvPr id="7" name="Text 5"/>
            <p:cNvSpPr/>
            <p:nvPr/>
          </p:nvSpPr>
          <p:spPr>
            <a:xfrm>
              <a:off x="1038999" y="3474512"/>
              <a:ext cx="3440927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sk-SK" sz="1600" b="1" dirty="0">
                  <a:solidFill>
                    <a:srgbClr val="06222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Matúš Ondruška, Dominik Kupec, Jakub </a:t>
              </a:r>
              <a:r>
                <a:rPr lang="sk-SK" sz="1600" b="1" dirty="0" err="1">
                  <a:solidFill>
                    <a:srgbClr val="06222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Maslen</a:t>
              </a:r>
              <a:r>
                <a:rPr lang="sk-SK" sz="1600" b="1" dirty="0">
                  <a:solidFill>
                    <a:srgbClr val="06222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, Dominika </a:t>
              </a:r>
              <a:r>
                <a:rPr lang="sk-SK" sz="1600" b="1" dirty="0" err="1">
                  <a:solidFill>
                    <a:srgbClr val="06222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Kormaníková</a:t>
              </a:r>
              <a:endParaRPr lang="en-US" sz="1600" dirty="0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3" name="Text 1"/>
          <p:cNvSpPr/>
          <p:nvPr/>
        </p:nvSpPr>
        <p:spPr>
          <a:xfrm>
            <a:off x="548640" y="18288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Cieľ</a:t>
            </a:r>
            <a:r>
              <a:rPr lang="en-US" sz="28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800" b="1" dirty="0" err="1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projektu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143000"/>
            <a:ext cx="10772030" cy="3705725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23314F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6" name="Text 4"/>
          <p:cNvSpPr/>
          <p:nvPr/>
        </p:nvSpPr>
        <p:spPr>
          <a:xfrm>
            <a:off x="1249680" y="1775861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Hlavné ciele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249680" y="2233061"/>
            <a:ext cx="7485246" cy="239187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Detekcia auta pred/v garáži </a:t>
            </a:r>
            <a:r>
              <a:rPr lang="en-US" sz="1600" dirty="0" err="1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pomocou</a:t>
            </a: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 </a:t>
            </a:r>
            <a:r>
              <a:rPr lang="en-US" sz="1600" dirty="0" err="1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ultrazvukov</a:t>
            </a:r>
            <a:r>
              <a:rPr lang="sk-SK" sz="1600" dirty="0" err="1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ých</a:t>
            </a: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senzor</a:t>
            </a:r>
            <a:r>
              <a:rPr lang="sk-SK" sz="1600" dirty="0" err="1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</a:t>
            </a: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(HC-SR04)</a:t>
            </a:r>
            <a:endParaRPr lang="en-US" sz="1600" dirty="0"/>
          </a:p>
          <a:p>
            <a:pPr marL="228600" indent="-2286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Ovládanie brány servomotorom (PWM) v AUTO režime + </a:t>
            </a:r>
            <a:r>
              <a:rPr lang="en-US" sz="1600" dirty="0" err="1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manuálne</a:t>
            </a: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tlačidlo</a:t>
            </a:r>
            <a:endParaRPr lang="en-US" sz="1600" dirty="0"/>
          </a:p>
          <a:p>
            <a:pPr marL="228600" indent="-2286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Signalizácia stavu: LED (OPEN/CLOSED/MOVEMENT) + </a:t>
            </a:r>
            <a:r>
              <a:rPr lang="sk-SK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prostredníctvom LCD</a:t>
            </a:r>
            <a:endParaRPr lang="en-US" sz="1600" dirty="0"/>
          </a:p>
          <a:p>
            <a:pPr marL="228600" indent="-2286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Záznam udalostí (vjazd/výjazd, otvorenie/zatvorenie) na SD </a:t>
            </a:r>
            <a:r>
              <a:rPr lang="en-US" sz="1600" dirty="0" err="1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kartu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12700">
            <a:solidFill>
              <a:srgbClr val="23314F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3" name="Text 1"/>
          <p:cNvSpPr/>
          <p:nvPr/>
        </p:nvSpPr>
        <p:spPr>
          <a:xfrm>
            <a:off x="548640" y="18288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Architektúra systému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530352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HW bloky + komunikácia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56870" y="1188721"/>
            <a:ext cx="5440680" cy="4670658"/>
          </a:xfrm>
          <a:prstGeom prst="roundRect">
            <a:avLst/>
          </a:prstGeom>
          <a:solidFill>
            <a:srgbClr val="0F1B33"/>
          </a:solidFill>
          <a:ln w="12700">
            <a:solidFill>
              <a:srgbClr val="23314F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6" name="Text 4"/>
          <p:cNvSpPr/>
          <p:nvPr/>
        </p:nvSpPr>
        <p:spPr>
          <a:xfrm>
            <a:off x="960120" y="1654342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STM32 #1 – "Garage controller"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005840" y="2111542"/>
            <a:ext cx="4549140" cy="1920240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23314F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8" name="Text 6"/>
          <p:cNvSpPr/>
          <p:nvPr/>
        </p:nvSpPr>
        <p:spPr>
          <a:xfrm>
            <a:off x="1188720" y="2340142"/>
            <a:ext cx="4480560" cy="1481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Motor_Process(): stav brány + PWM servo (TIM1)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Sensor_Update(): 2× HC-SR04 (TIM2 </a:t>
            </a:r>
            <a:r>
              <a:rPr lang="en-US" sz="1400" dirty="0" err="1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delay_us</a:t>
            </a: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SDLog_*(): front logov + FATFS zápis </a:t>
            </a:r>
            <a:r>
              <a:rPr lang="en-US" sz="1400" dirty="0" err="1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cez</a:t>
            </a: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SPI1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stav (OPEN/CLOSED/MOVEMENT)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UART TX: posiela UI stav na STM32 #2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82980" y="5098502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Vstupy/Výstupy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82980" y="5345390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TRIG/ECHO (IN/OUT), BTN, Servo, SD (SPI), LED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604711" y="1786689"/>
            <a:ext cx="5056632" cy="2815387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3314F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12" name="Text 10"/>
          <p:cNvSpPr/>
          <p:nvPr/>
        </p:nvSpPr>
        <p:spPr>
          <a:xfrm>
            <a:off x="6879031" y="2180124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STM32 #2 – "UI board"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856171" y="2677026"/>
            <a:ext cx="4526280" cy="1567715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23314F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14" name="Text 12"/>
          <p:cNvSpPr/>
          <p:nvPr/>
        </p:nvSpPr>
        <p:spPr>
          <a:xfrm>
            <a:off x="7039051" y="2859906"/>
            <a:ext cx="4160520" cy="120797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UART RX (115200): parsovanie rámcov AA 55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LCD (I2C1): PCF8574 </a:t>
            </a:r>
            <a:r>
              <a:rPr lang="en-US" sz="1400" dirty="0" err="1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autodetekcia</a:t>
            </a: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adresy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Zobrazovanie stavu: OPEN / CLOSED / IN PROGRESS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Fail-safe: "LINK LOST" ak neprídu dáta &gt; 2 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987491" y="2903220"/>
            <a:ext cx="640080" cy="731520"/>
          </a:xfrm>
          <a:prstGeom prst="rightArrow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17" name="Text 15"/>
          <p:cNvSpPr/>
          <p:nvPr/>
        </p:nvSpPr>
        <p:spPr>
          <a:xfrm>
            <a:off x="5833872" y="3752168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UART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TX→RX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12700">
            <a:solidFill>
              <a:srgbClr val="23314F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3" name="Text 1"/>
          <p:cNvSpPr/>
          <p:nvPr/>
        </p:nvSpPr>
        <p:spPr>
          <a:xfrm>
            <a:off x="548640" y="18288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Zapojenie (HW)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530352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Senzory, servo, SD, UART, LCD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96104" y="983163"/>
            <a:ext cx="6995160" cy="5212080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23314F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6" name="Text 4"/>
          <p:cNvSpPr/>
          <p:nvPr/>
        </p:nvSpPr>
        <p:spPr>
          <a:xfrm>
            <a:off x="3244993" y="1255468"/>
            <a:ext cx="18973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 err="1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Schéma</a:t>
            </a:r>
            <a:r>
              <a:rPr lang="en-US" sz="18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b="1" dirty="0" err="1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zapojenia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7955278" y="861723"/>
            <a:ext cx="3824935" cy="5302427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23314F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9" name="Text 6"/>
          <p:cNvSpPr/>
          <p:nvPr/>
        </p:nvSpPr>
        <p:spPr>
          <a:xfrm>
            <a:off x="8677222" y="1028052"/>
            <a:ext cx="238104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Pinout (STM32F303K8)</a:t>
            </a:r>
            <a:endParaRPr lang="en-US" sz="1800" dirty="0"/>
          </a:p>
        </p:txBody>
      </p:sp>
      <p:sp>
        <p:nvSpPr>
          <p:cNvPr id="11" name="Shape 7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12700">
            <a:solidFill>
              <a:srgbClr val="23314F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pic>
        <p:nvPicPr>
          <p:cNvPr id="14" name="Obrázok 13" descr="Obrázok, na ktorom je diagram, technický výkres, plán, schematický&#10;&#10;Obsah vygenerovaný pomocou AI môže byť nesprávny.">
            <a:extLst>
              <a:ext uri="{FF2B5EF4-FFF2-40B4-BE49-F238E27FC236}">
                <a16:creationId xmlns:a16="http://schemas.microsoft.com/office/drawing/2014/main" id="{84F4CA6C-2DCA-8E58-A2FB-72C0945C00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6332" y="1799165"/>
            <a:ext cx="5694703" cy="408299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0" name="Obrázok 9" descr="Obrázok, na ktorom je text, snímka obrazovky, diagram, dizajn">
            <a:extLst>
              <a:ext uri="{FF2B5EF4-FFF2-40B4-BE49-F238E27FC236}">
                <a16:creationId xmlns:a16="http://schemas.microsoft.com/office/drawing/2014/main" id="{9F886187-8C25-0D8E-5411-8D3811AF42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5261" y="1842912"/>
            <a:ext cx="2024965" cy="1794941"/>
          </a:xfrm>
          <a:prstGeom prst="rect">
            <a:avLst/>
          </a:prstGeom>
        </p:spPr>
      </p:pic>
      <p:pic>
        <p:nvPicPr>
          <p:cNvPr id="13" name="Obrázok 12" descr="Obrázok, na ktorom je text, snímka obrazovky, diagram, dizajn&#10;&#10;Obsah vygenerovaný pomocou AI môže byť nesprávny.">
            <a:extLst>
              <a:ext uri="{FF2B5EF4-FFF2-40B4-BE49-F238E27FC236}">
                <a16:creationId xmlns:a16="http://schemas.microsoft.com/office/drawing/2014/main" id="{7A2C5C5A-A33A-1B86-9B95-DA32FF6CD5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96986" y="4175284"/>
            <a:ext cx="1858986" cy="1814036"/>
          </a:xfrm>
          <a:prstGeom prst="rect">
            <a:avLst/>
          </a:prstGeom>
        </p:spPr>
      </p:pic>
      <p:sp>
        <p:nvSpPr>
          <p:cNvPr id="15" name="Text 6">
            <a:extLst>
              <a:ext uri="{FF2B5EF4-FFF2-40B4-BE49-F238E27FC236}">
                <a16:creationId xmlns:a16="http://schemas.microsoft.com/office/drawing/2014/main" id="{B8460247-3608-FCC7-A49F-669F31BC95B4}"/>
              </a:ext>
            </a:extLst>
          </p:cNvPr>
          <p:cNvSpPr/>
          <p:nvPr/>
        </p:nvSpPr>
        <p:spPr>
          <a:xfrm>
            <a:off x="9116409" y="1522872"/>
            <a:ext cx="150267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 err="1">
                <a:solidFill>
                  <a:schemeClr val="bg1"/>
                </a:solidFill>
              </a:rPr>
              <a:t>intelligent_garage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BD9DB105-8709-5C65-41E9-020790F7564B}"/>
              </a:ext>
            </a:extLst>
          </p:cNvPr>
          <p:cNvSpPr/>
          <p:nvPr/>
        </p:nvSpPr>
        <p:spPr>
          <a:xfrm>
            <a:off x="9529491" y="3855244"/>
            <a:ext cx="676503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 err="1">
                <a:solidFill>
                  <a:schemeClr val="bg1"/>
                </a:solidFill>
              </a:rPr>
              <a:t>displej</a:t>
            </a:r>
            <a:endParaRPr lang="en-US" sz="1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777240" y="2011680"/>
            <a:ext cx="10637215" cy="28346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3314F"/>
            </a:solidFill>
            <a:prstDash val="solid"/>
          </a:ln>
          <a:effectLst>
            <a:outerShdw blurRad="127000" dist="254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sk-SK"/>
          </a:p>
        </p:txBody>
      </p:sp>
      <p:sp>
        <p:nvSpPr>
          <p:cNvPr id="4" name="Shape 2"/>
          <p:cNvSpPr/>
          <p:nvPr/>
        </p:nvSpPr>
        <p:spPr>
          <a:xfrm>
            <a:off x="1234440" y="2331720"/>
            <a:ext cx="146304" cy="2194560"/>
          </a:xfrm>
          <a:prstGeom prst="round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5" name="Text 3"/>
          <p:cNvSpPr/>
          <p:nvPr/>
        </p:nvSpPr>
        <p:spPr>
          <a:xfrm>
            <a:off x="1508760" y="2423160"/>
            <a:ext cx="94484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Motor (servo)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12700">
            <a:solidFill>
              <a:srgbClr val="23314F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3" name="Text 1"/>
          <p:cNvSpPr/>
          <p:nvPr/>
        </p:nvSpPr>
        <p:spPr>
          <a:xfrm>
            <a:off x="548640" y="18288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– úloha a HW rozhranie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530352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Servo + PWM + manuálne tlačidlo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3128" y="1970051"/>
            <a:ext cx="5669280" cy="2917898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23314F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6" name="Text 4"/>
          <p:cNvSpPr/>
          <p:nvPr/>
        </p:nvSpPr>
        <p:spPr>
          <a:xfrm>
            <a:off x="917448" y="2171219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Čo motor rieši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9160" y="2712640"/>
            <a:ext cx="5303520" cy="199242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Servomotor na dverách: otvorenie/zatvorenie (</a:t>
            </a:r>
            <a:r>
              <a:rPr lang="en-US" sz="1600" dirty="0" err="1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časované</a:t>
            </a: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PWM výstup: TIM1 CH1 (PA8)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Ne-blokujúca logika pohybu (is_moving + timeout)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Manuálne tlačidlo (PA11, active-low) s debounce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Externé príkazy: CMD_OPEN/CMD_CLOSE z </a:t>
            </a:r>
            <a:r>
              <a:rPr lang="en-US" sz="1600" dirty="0" err="1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hlavnej</a:t>
            </a: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logiky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586728" y="1811956"/>
            <a:ext cx="4919472" cy="3248525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23314F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9" name="Text 7"/>
          <p:cNvSpPr/>
          <p:nvPr/>
        </p:nvSpPr>
        <p:spPr>
          <a:xfrm>
            <a:off x="6861048" y="2152451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Dôležité konštanty (motor.c)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861048" y="2680636"/>
            <a:ext cx="4370832" cy="2011680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23314F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11" name="Text 9"/>
          <p:cNvSpPr/>
          <p:nvPr/>
        </p:nvSpPr>
        <p:spPr>
          <a:xfrm>
            <a:off x="7043928" y="2863516"/>
            <a:ext cx="4023360" cy="164592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SERVO_STOP   1500
</a:t>
            </a:r>
            <a:r>
              <a:rPr lang="en-US" sz="14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SERVO_CCW    1420  // smer otváranie
SERVO_CW     1900  // smer zatváranie
</a:t>
            </a: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MOVE_OPEN_TIME_MS   500
MOVE_CLOSE_TIME_MS  550
BTN_DEBOUNCE_MS      30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12700">
            <a:solidFill>
              <a:srgbClr val="23314F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3" name="Text 1"/>
          <p:cNvSpPr/>
          <p:nvPr/>
        </p:nvSpPr>
        <p:spPr>
          <a:xfrm>
            <a:off x="548640" y="18288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– stavový automat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530352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STATE_CLOSED / OPENING / OPEN / CLOSING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71500" y="1929384"/>
            <a:ext cx="5852160" cy="3017520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23314F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6" name="Text 4"/>
          <p:cNvSpPr/>
          <p:nvPr/>
        </p:nvSpPr>
        <p:spPr>
          <a:xfrm>
            <a:off x="845820" y="2510028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Stavy a prechody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45820" y="2921508"/>
            <a:ext cx="5486400" cy="18841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CMD_OPEN sa akceptuje iba keď je </a:t>
            </a:r>
            <a:r>
              <a:rPr lang="en-US" sz="1500" dirty="0" err="1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stav</a:t>
            </a: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CLOSED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CMD_CLOSE sa akceptuje iba keď je </a:t>
            </a:r>
            <a:r>
              <a:rPr lang="en-US" sz="1500" dirty="0" err="1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stav</a:t>
            </a: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OPEN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OPENING/CLOSING sú časované (MOVE_*_TIME_MS)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uplynutí času → servo stop + finálny stav (OPEN/CLOSED)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Počas pohybu sa tlačidlo ignoruje (ochrana pred dvojitým toggle)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745071" y="1143000"/>
            <a:ext cx="4782312" cy="4983476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23314F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9" name="Text 7"/>
          <p:cNvSpPr/>
          <p:nvPr/>
        </p:nvSpPr>
        <p:spPr>
          <a:xfrm>
            <a:off x="6995160" y="132588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diagram (stavový automat)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086600" y="1920240"/>
            <a:ext cx="1828800" cy="640080"/>
          </a:xfrm>
          <a:prstGeom prst="roundRect">
            <a:avLst/>
          </a:prstGeom>
          <a:solidFill>
            <a:srgbClr val="11302A"/>
          </a:solidFill>
          <a:ln w="12700">
            <a:solidFill>
              <a:srgbClr val="23314F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11" name="Text 9"/>
          <p:cNvSpPr/>
          <p:nvPr/>
        </p:nvSpPr>
        <p:spPr>
          <a:xfrm>
            <a:off x="7086600" y="2066544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235440" y="1920240"/>
            <a:ext cx="1828800" cy="640080"/>
          </a:xfrm>
          <a:prstGeom prst="roundRect">
            <a:avLst/>
          </a:prstGeom>
          <a:solidFill>
            <a:srgbClr val="1B2A4A"/>
          </a:solidFill>
          <a:ln w="12700">
            <a:solidFill>
              <a:srgbClr val="23314F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13" name="Text 11"/>
          <p:cNvSpPr/>
          <p:nvPr/>
        </p:nvSpPr>
        <p:spPr>
          <a:xfrm>
            <a:off x="9235440" y="2066544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235440" y="2606040"/>
            <a:ext cx="1828800" cy="640080"/>
          </a:xfrm>
          <a:prstGeom prst="roundRect">
            <a:avLst/>
          </a:prstGeom>
          <a:solidFill>
            <a:srgbClr val="0F3B23"/>
          </a:solidFill>
          <a:ln w="12700">
            <a:solidFill>
              <a:srgbClr val="23314F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15" name="Text 13"/>
          <p:cNvSpPr/>
          <p:nvPr/>
        </p:nvSpPr>
        <p:spPr>
          <a:xfrm>
            <a:off x="9235440" y="2752344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086600" y="2606040"/>
            <a:ext cx="1828800" cy="640080"/>
          </a:xfrm>
          <a:prstGeom prst="roundRect">
            <a:avLst/>
          </a:prstGeom>
          <a:solidFill>
            <a:srgbClr val="3B1F2B"/>
          </a:solidFill>
          <a:ln w="12700">
            <a:solidFill>
              <a:srgbClr val="23314F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17" name="Text 15"/>
          <p:cNvSpPr/>
          <p:nvPr/>
        </p:nvSpPr>
        <p:spPr>
          <a:xfrm>
            <a:off x="7086600" y="2752344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869680" y="2057400"/>
            <a:ext cx="320040" cy="365760"/>
          </a:xfrm>
          <a:prstGeom prst="rightArrow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19" name="Text 17"/>
          <p:cNvSpPr/>
          <p:nvPr/>
        </p:nvSpPr>
        <p:spPr>
          <a:xfrm>
            <a:off x="8565281" y="177153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CMD_OPEN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784080" y="2514600"/>
            <a:ext cx="365760" cy="320040"/>
          </a:xfrm>
          <a:prstGeom prst="downArrow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21" name="Text 19"/>
          <p:cNvSpPr/>
          <p:nvPr/>
        </p:nvSpPr>
        <p:spPr>
          <a:xfrm>
            <a:off x="10012680" y="2738147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869680" y="2743200"/>
            <a:ext cx="320040" cy="365760"/>
          </a:xfrm>
          <a:prstGeom prst="leftArrow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23" name="Text 21"/>
          <p:cNvSpPr/>
          <p:nvPr/>
        </p:nvSpPr>
        <p:spPr>
          <a:xfrm>
            <a:off x="8526780" y="3209544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CMD_CLOSE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635240" y="2514600"/>
            <a:ext cx="365760" cy="320040"/>
          </a:xfrm>
          <a:prstGeom prst="upArrow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25" name="Text 23"/>
          <p:cNvSpPr/>
          <p:nvPr/>
        </p:nvSpPr>
        <p:spPr>
          <a:xfrm>
            <a:off x="7132320" y="2043684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995160" y="3749040"/>
            <a:ext cx="4236720" cy="1783080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23314F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27" name="Text 25"/>
          <p:cNvSpPr/>
          <p:nvPr/>
        </p:nvSpPr>
        <p:spPr>
          <a:xfrm>
            <a:off x="7223760" y="388620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Manuálne tlačidlo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223760" y="4224528"/>
            <a:ext cx="4023360" cy="12710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Edge-detect: akcia len </a:t>
            </a:r>
            <a:r>
              <a:rPr lang="en-US" sz="1400" dirty="0" err="1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</a:t>
            </a: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stlačení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Debounce 30 ms (</a:t>
            </a:r>
            <a:r>
              <a:rPr lang="en-US" sz="1400" dirty="0" err="1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neblokujúco</a:t>
            </a: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Tlačidlo ignorujeme </a:t>
            </a:r>
            <a:r>
              <a:rPr lang="en-US" sz="1400" dirty="0" err="1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počas</a:t>
            </a: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pohybu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last_move_manual sa prenáša do logovania (SD)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12700">
            <a:solidFill>
              <a:srgbClr val="23314F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3" name="Shape 1"/>
          <p:cNvSpPr/>
          <p:nvPr/>
        </p:nvSpPr>
        <p:spPr>
          <a:xfrm>
            <a:off x="777240" y="2011680"/>
            <a:ext cx="10637215" cy="28346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3314F"/>
            </a:solidFill>
            <a:prstDash val="solid"/>
          </a:ln>
          <a:effectLst>
            <a:outerShdw blurRad="127000" dist="254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sk-SK"/>
          </a:p>
        </p:txBody>
      </p:sp>
      <p:sp>
        <p:nvSpPr>
          <p:cNvPr id="4" name="Shape 2"/>
          <p:cNvSpPr/>
          <p:nvPr/>
        </p:nvSpPr>
        <p:spPr>
          <a:xfrm>
            <a:off x="1234440" y="2331720"/>
            <a:ext cx="146304" cy="2194560"/>
          </a:xfrm>
          <a:prstGeom prst="round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5" name="Text 3"/>
          <p:cNvSpPr/>
          <p:nvPr/>
        </p:nvSpPr>
        <p:spPr>
          <a:xfrm>
            <a:off x="1508760" y="2423160"/>
            <a:ext cx="94484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Ultrazvukové senzory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12700">
            <a:solidFill>
              <a:srgbClr val="23314F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3" name="Text 1"/>
          <p:cNvSpPr/>
          <p:nvPr/>
        </p:nvSpPr>
        <p:spPr>
          <a:xfrm>
            <a:off x="548640" y="18288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Ultrazvuk – princíp merania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530352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 pulz → ECHO šírka → vzdialenosť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45296" y="2103119"/>
            <a:ext cx="5897880" cy="2958073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23314F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6" name="Text 4"/>
          <p:cNvSpPr/>
          <p:nvPr/>
        </p:nvSpPr>
        <p:spPr>
          <a:xfrm>
            <a:off x="1005900" y="2423160"/>
            <a:ext cx="5349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Ako meria HC-SR04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900" y="3063241"/>
            <a:ext cx="55321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TRIG: 10 µs impulz </a:t>
            </a:r>
            <a:r>
              <a:rPr lang="en-US" sz="1500" dirty="0" err="1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spustí</a:t>
            </a: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meranie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ECHO: je HIGH počas času </a:t>
            </a:r>
            <a:r>
              <a:rPr lang="en-US" sz="1500" dirty="0" err="1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letu</a:t>
            </a: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ultrazvuku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kóde počítame mikrosekundy v slučke (</a:t>
            </a:r>
            <a:r>
              <a:rPr lang="en-US" sz="1500" dirty="0" err="1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delay_us</a:t>
            </a: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Prevod na cm: distance_cm = time_us / 58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senzory: INSIDE a OUTSIDE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321040" y="2331720"/>
            <a:ext cx="0" cy="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19" name="Shape 17"/>
          <p:cNvSpPr/>
          <p:nvPr/>
        </p:nvSpPr>
        <p:spPr>
          <a:xfrm>
            <a:off x="8549640" y="3246120"/>
            <a:ext cx="0" cy="0"/>
          </a:xfrm>
          <a:prstGeom prst="line">
            <a:avLst/>
          </a:prstGeom>
          <a:noFill/>
          <a:ln w="254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25" name="Shape 23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12700">
            <a:solidFill>
              <a:srgbClr val="23314F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29" name="Shape 3">
            <a:extLst>
              <a:ext uri="{FF2B5EF4-FFF2-40B4-BE49-F238E27FC236}">
                <a16:creationId xmlns:a16="http://schemas.microsoft.com/office/drawing/2014/main" id="{4E361CE6-41C3-4EBC-34E3-1D1E8FE7DA5A}"/>
              </a:ext>
            </a:extLst>
          </p:cNvPr>
          <p:cNvSpPr/>
          <p:nvPr/>
        </p:nvSpPr>
        <p:spPr>
          <a:xfrm>
            <a:off x="6903780" y="2087121"/>
            <a:ext cx="4704348" cy="2958077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23314F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pic>
        <p:nvPicPr>
          <p:cNvPr id="28" name="Obrázok 27" descr="Obrázok, na ktorom je elektronika, kábel, vnútri, elektronické zariadenie&#10;&#10;Obsah vygenerovaný pomocou AI môže byť nesprávny.">
            <a:extLst>
              <a:ext uri="{FF2B5EF4-FFF2-40B4-BE49-F238E27FC236}">
                <a16:creationId xmlns:a16="http://schemas.microsoft.com/office/drawing/2014/main" id="{1E88B9A9-B88E-0331-3C19-B01A2684CC3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7704" b="28543"/>
          <a:stretch>
            <a:fillRect/>
          </a:stretch>
        </p:blipFill>
        <p:spPr>
          <a:xfrm>
            <a:off x="7380060" y="2205937"/>
            <a:ext cx="3706067" cy="265620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3" name="Text 1"/>
          <p:cNvSpPr/>
          <p:nvPr/>
        </p:nvSpPr>
        <p:spPr>
          <a:xfrm>
            <a:off x="548640" y="18288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Ultrazvuk – implementácia v kóde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530352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HCSR04_Read_Distance() + Sensor_Update()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1143000"/>
            <a:ext cx="5715000" cy="3344778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23314F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6" name="Text 4"/>
          <p:cNvSpPr/>
          <p:nvPr/>
        </p:nvSpPr>
        <p:spPr>
          <a:xfrm>
            <a:off x="960120" y="1618247"/>
            <a:ext cx="5166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HCSR04_Read_Distance()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98308" y="2153652"/>
            <a:ext cx="5115827" cy="1915428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23314F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8" name="Text 6"/>
          <p:cNvSpPr/>
          <p:nvPr/>
        </p:nvSpPr>
        <p:spPr>
          <a:xfrm>
            <a:off x="1143000" y="2396690"/>
            <a:ext cx="4983480" cy="13980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1) TRIG: 2µs low → 10µs high</a:t>
            </a:r>
            <a:endParaRPr lang="en-US" sz="14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2) Čakaj na ECHO=1</a:t>
            </a:r>
            <a:endParaRPr lang="en-US" sz="14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3) Kým ECHO=1: time++ a delay_us(1)</a:t>
            </a:r>
            <a:endParaRPr lang="en-US" sz="14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4) return time/58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537960" y="1143000"/>
            <a:ext cx="4965192" cy="4590045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23314F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11" name="Text 9"/>
          <p:cNvSpPr/>
          <p:nvPr/>
        </p:nvSpPr>
        <p:spPr>
          <a:xfrm>
            <a:off x="6812280" y="1682015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Sensor_Update() + CarPosition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835140" y="2304047"/>
            <a:ext cx="45262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 err="1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Zmeriame</a:t>
            </a: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INSIDE  a  OUTSIDE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Medzi meraniami HAL_Delay(20) -&gt;   </a:t>
            </a:r>
            <a:r>
              <a:rPr lang="en-US" sz="1500" dirty="0" err="1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kvôli</a:t>
            </a: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stabilite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inside/outside = (dist &gt; 0 &amp;&amp; dist &lt; threshold)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812280" y="3657600"/>
            <a:ext cx="4399547" cy="1648326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23314F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14" name="Text 12"/>
          <p:cNvSpPr/>
          <p:nvPr/>
        </p:nvSpPr>
        <p:spPr>
          <a:xfrm>
            <a:off x="7040880" y="3869357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Mapovanie → CarPosition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040880" y="4189397"/>
            <a:ext cx="4114800" cy="896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inside=0, outside=0  → CAR_NONE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inside=1, outside=0  → CAR_INSIDE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inside=0, outside=1  → CAR_OUTSIDE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inside=1, outside=1  → CAR_BOTH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12700">
            <a:solidFill>
              <a:srgbClr val="23314F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3" name="Shape 1"/>
          <p:cNvSpPr/>
          <p:nvPr/>
        </p:nvSpPr>
        <p:spPr>
          <a:xfrm>
            <a:off x="777240" y="2011680"/>
            <a:ext cx="10637215" cy="28346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3314F"/>
            </a:solidFill>
            <a:prstDash val="solid"/>
          </a:ln>
          <a:effectLst>
            <a:outerShdw blurRad="127000" dist="254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sk-SK"/>
          </a:p>
        </p:txBody>
      </p:sp>
      <p:sp>
        <p:nvSpPr>
          <p:cNvPr id="4" name="Shape 2"/>
          <p:cNvSpPr/>
          <p:nvPr/>
        </p:nvSpPr>
        <p:spPr>
          <a:xfrm>
            <a:off x="1234440" y="2331720"/>
            <a:ext cx="146304" cy="219456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5" name="Text 3"/>
          <p:cNvSpPr/>
          <p:nvPr/>
        </p:nvSpPr>
        <p:spPr>
          <a:xfrm>
            <a:off x="1508760" y="2423160"/>
            <a:ext cx="94484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SD karta + konštrukcia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12700">
            <a:solidFill>
              <a:srgbClr val="23314F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3" name="Text 1"/>
          <p:cNvSpPr/>
          <p:nvPr/>
        </p:nvSpPr>
        <p:spPr>
          <a:xfrm>
            <a:off x="548640" y="18288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 karta – dátová vrstva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530352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 driver → FATFS → SDLog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8848" y="1143000"/>
            <a:ext cx="5669280" cy="4559963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23314F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6" name="Text 4"/>
          <p:cNvSpPr/>
          <p:nvPr/>
        </p:nvSpPr>
        <p:spPr>
          <a:xfrm>
            <a:off x="963168" y="1921443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Softvérový stack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2339661"/>
            <a:ext cx="530352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SPI1 + CS (PA4) komunikuje s SD </a:t>
            </a:r>
            <a:r>
              <a:rPr lang="en-US" sz="1500" dirty="0" err="1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čítačkou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sd_spi.c implementuje základné SD príkazy (CMD0/CMD8/ACMD41...)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FATFS používa user_diskio.c, ktorý mapuje read/write na SD_SPI_*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sd_log.c rieši logovanie udalostí do súboru 0:/LOG2.TXT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583680" y="1200757"/>
            <a:ext cx="4919472" cy="4502206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23314F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13" name="Shape 11"/>
          <p:cNvSpPr/>
          <p:nvPr/>
        </p:nvSpPr>
        <p:spPr>
          <a:xfrm>
            <a:off x="6858000" y="1673352"/>
            <a:ext cx="4370832" cy="3657600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23314F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14" name="Text 12"/>
          <p:cNvSpPr/>
          <p:nvPr/>
        </p:nvSpPr>
        <p:spPr>
          <a:xfrm>
            <a:off x="7031736" y="2176272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Príklad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logov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040880" y="4727448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 je odvodený z __DATE__/__TIME__ + uptime.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12700">
            <a:solidFill>
              <a:srgbClr val="23314F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pic>
        <p:nvPicPr>
          <p:cNvPr id="20" name="Obrázok 19" descr="Obrázok, na ktorom je text, snímka obrazovky, písmo&#10;&#10;Obsah vygenerovaný pomocou AI môže byť nesprávny.">
            <a:extLst>
              <a:ext uri="{FF2B5EF4-FFF2-40B4-BE49-F238E27FC236}">
                <a16:creationId xmlns:a16="http://schemas.microsoft.com/office/drawing/2014/main" id="{9440870B-80BF-73C2-B07F-B015CD2EDA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5108" y="2689815"/>
            <a:ext cx="4216617" cy="175269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3" name="Text 1"/>
          <p:cNvSpPr/>
          <p:nvPr/>
        </p:nvSpPr>
        <p:spPr>
          <a:xfrm>
            <a:off x="548640" y="18288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 logovanie – front + bezpečný zápis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530352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SDLog_Process(safe_to_write)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983528"/>
            <a:ext cx="5989320" cy="3165263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23314F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6" name="Text 4"/>
          <p:cNvSpPr/>
          <p:nvPr/>
        </p:nvSpPr>
        <p:spPr>
          <a:xfrm>
            <a:off x="841248" y="2315597"/>
            <a:ext cx="5440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 err="1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Prečo</a:t>
            </a:r>
            <a:r>
              <a:rPr lang="en-US" sz="18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front (RAM queue)?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41248" y="2776406"/>
            <a:ext cx="5623560" cy="219937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udalostí nechceme stratiť – ale nechceme ani blokovať </a:t>
            </a:r>
            <a:r>
              <a:rPr lang="en-US" sz="1500" dirty="0" err="1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hlavnú</a:t>
            </a: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slučku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Počas pohybu serva je vyššie riziko rušenia → zapisujeme až keď je „safe“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má 32 riadkov × 256 znakov; pri pretečení </a:t>
            </a:r>
            <a:r>
              <a:rPr lang="en-US" sz="1500" dirty="0" err="1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zahodí</a:t>
            </a: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najstarší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SDLog_Process() otvorí LOG2.TXT, seek na koniec, zapíše všetko, </a:t>
            </a:r>
            <a:r>
              <a:rPr lang="en-US" sz="1500" dirty="0" err="1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f_sync</a:t>
            </a: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812279" y="1143000"/>
            <a:ext cx="5159141" cy="4770517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23314F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9" name="Text 7"/>
          <p:cNvSpPr/>
          <p:nvPr/>
        </p:nvSpPr>
        <p:spPr>
          <a:xfrm>
            <a:off x="7086600" y="1466649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 dát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132320" y="1874520"/>
            <a:ext cx="4526280" cy="594360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23314F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11" name="Text 9"/>
          <p:cNvSpPr/>
          <p:nvPr/>
        </p:nvSpPr>
        <p:spPr>
          <a:xfrm>
            <a:off x="7292340" y="1870911"/>
            <a:ext cx="4160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main.c: SDLog_Printf("...")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144000" y="2488131"/>
            <a:ext cx="457200" cy="320040"/>
          </a:xfrm>
          <a:prstGeom prst="downArrow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13" name="Shape 11"/>
          <p:cNvSpPr/>
          <p:nvPr/>
        </p:nvSpPr>
        <p:spPr>
          <a:xfrm>
            <a:off x="7132320" y="2834640"/>
            <a:ext cx="4526280" cy="594360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23314F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14" name="Text 12"/>
          <p:cNvSpPr/>
          <p:nvPr/>
        </p:nvSpPr>
        <p:spPr>
          <a:xfrm>
            <a:off x="7296912" y="2828142"/>
            <a:ext cx="4160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sd_log.c: logq_push() (RAM)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144000" y="3456432"/>
            <a:ext cx="457200" cy="320040"/>
          </a:xfrm>
          <a:prstGeom prst="downArrow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16" name="Shape 14"/>
          <p:cNvSpPr/>
          <p:nvPr/>
        </p:nvSpPr>
        <p:spPr>
          <a:xfrm>
            <a:off x="7114032" y="3794760"/>
            <a:ext cx="4526280" cy="594360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23314F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17" name="Text 15"/>
          <p:cNvSpPr/>
          <p:nvPr/>
        </p:nvSpPr>
        <p:spPr>
          <a:xfrm>
            <a:off x="7296912" y="3789707"/>
            <a:ext cx="4160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SDLog_Process(safe=1) → f_open + f_puts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137984" y="4415589"/>
            <a:ext cx="457200" cy="320040"/>
          </a:xfrm>
          <a:prstGeom prst="downArrow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19" name="Shape 17"/>
          <p:cNvSpPr/>
          <p:nvPr/>
        </p:nvSpPr>
        <p:spPr>
          <a:xfrm>
            <a:off x="7132320" y="4754880"/>
            <a:ext cx="4526280" cy="594360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23314F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20" name="Text 18"/>
          <p:cNvSpPr/>
          <p:nvPr/>
        </p:nvSpPr>
        <p:spPr>
          <a:xfrm>
            <a:off x="7296912" y="4782312"/>
            <a:ext cx="4160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 karta: 0:/LOG2.TXT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12700">
            <a:solidFill>
              <a:srgbClr val="23314F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3" name="Text 1"/>
          <p:cNvSpPr/>
          <p:nvPr/>
        </p:nvSpPr>
        <p:spPr>
          <a:xfrm>
            <a:off x="548640" y="18288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Konštrukcia (model garáže)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530352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modely + umiestnenie HW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1143000"/>
            <a:ext cx="11503152" cy="5212080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23314F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6" name="Text 4"/>
          <p:cNvSpPr/>
          <p:nvPr/>
        </p:nvSpPr>
        <p:spPr>
          <a:xfrm>
            <a:off x="960120" y="13258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12700">
            <a:solidFill>
              <a:srgbClr val="23314F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pic>
        <p:nvPicPr>
          <p:cNvPr id="20" name="Obrázok 19" descr="Obrázok, na ktorom je kontajner, krabica, dizajn&#10;&#10;Obsah vygenerovaný pomocou AI môže byť nesprávny.">
            <a:extLst>
              <a:ext uri="{FF2B5EF4-FFF2-40B4-BE49-F238E27FC236}">
                <a16:creationId xmlns:a16="http://schemas.microsoft.com/office/drawing/2014/main" id="{D73CB9A6-6C77-20ED-C104-7953F32495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1442876"/>
            <a:ext cx="5436267" cy="463061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24" name="Obrázok 23" descr="Obrázok, na ktorom je snímka obrazovky, dizajn&#10;&#10;Obsah vygenerovaný pomocou AI môže byť nesprávny.">
            <a:extLst>
              <a:ext uri="{FF2B5EF4-FFF2-40B4-BE49-F238E27FC236}">
                <a16:creationId xmlns:a16="http://schemas.microsoft.com/office/drawing/2014/main" id="{66F05301-0A4D-A248-A96A-381D17F978F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81" b="20396"/>
          <a:stretch>
            <a:fillRect/>
          </a:stretch>
        </p:blipFill>
        <p:spPr>
          <a:xfrm>
            <a:off x="6496920" y="1417661"/>
            <a:ext cx="5436000" cy="468104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3" name="Shape 1"/>
          <p:cNvSpPr/>
          <p:nvPr/>
        </p:nvSpPr>
        <p:spPr>
          <a:xfrm>
            <a:off x="777240" y="2011680"/>
            <a:ext cx="10637215" cy="28346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3314F"/>
            </a:solidFill>
            <a:prstDash val="solid"/>
          </a:ln>
          <a:effectLst>
            <a:outerShdw blurRad="127000" dist="254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sk-SK"/>
          </a:p>
        </p:txBody>
      </p:sp>
      <p:sp>
        <p:nvSpPr>
          <p:cNvPr id="4" name="Shape 2"/>
          <p:cNvSpPr/>
          <p:nvPr/>
        </p:nvSpPr>
        <p:spPr>
          <a:xfrm>
            <a:off x="1234440" y="2331720"/>
            <a:ext cx="146304" cy="2194560"/>
          </a:xfrm>
          <a:prstGeom prst="round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5" name="Text 3"/>
          <p:cNvSpPr/>
          <p:nvPr/>
        </p:nvSpPr>
        <p:spPr>
          <a:xfrm>
            <a:off x="1508760" y="2423160"/>
            <a:ext cx="94484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Displej + LED + UART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12700">
            <a:solidFill>
              <a:srgbClr val="23314F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3" name="Text 1"/>
          <p:cNvSpPr/>
          <p:nvPr/>
        </p:nvSpPr>
        <p:spPr>
          <a:xfrm>
            <a:off x="548640" y="18288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UART komunikácia medzi STM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530352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Jednoduchý rámec + checksum + heartbeat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1143000"/>
            <a:ext cx="5989320" cy="4343399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23314F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6" name="Text 4"/>
          <p:cNvSpPr/>
          <p:nvPr/>
        </p:nvSpPr>
        <p:spPr>
          <a:xfrm>
            <a:off x="960120" y="1325880"/>
            <a:ext cx="5440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Protokol rámca (STM1 → STM2)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60120" y="1737360"/>
            <a:ext cx="5623560" cy="1051560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23314F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8" name="Text 6"/>
          <p:cNvSpPr/>
          <p:nvPr/>
        </p:nvSpPr>
        <p:spPr>
          <a:xfrm>
            <a:off x="1143000" y="1965960"/>
            <a:ext cx="5257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0xAA  0x55  &lt;state&gt;  &lt;seq&gt;  &lt;chk&gt;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43000" y="2331720"/>
            <a:ext cx="5257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chk = XOR(AA,55,state,seq)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3182353"/>
            <a:ext cx="5623560" cy="17505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Baudrate: 115200, 8N1.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state: 0=OPEN, 1=CLOSED, 2=MOVEMENT_IN_PROGRESS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STM1 posiela stav každých ~500 ms aj keď sa </a:t>
            </a:r>
            <a:r>
              <a:rPr lang="en-US" sz="1500" dirty="0" err="1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nič</a:t>
            </a: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nemení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STM2 zobrazí "LINK LOST" ak neprídu dáta &gt; 2 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0" y="2039352"/>
            <a:ext cx="4690872" cy="2779295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23314F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12" name="Text 10"/>
          <p:cNvSpPr/>
          <p:nvPr/>
        </p:nvSpPr>
        <p:spPr>
          <a:xfrm>
            <a:off x="7132320" y="2382975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Parsovanie na STM2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132320" y="2794455"/>
            <a:ext cx="4160520" cy="153089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UART RX po 1 bajte v prerušení (</a:t>
            </a:r>
            <a:r>
              <a:rPr lang="en-US" sz="1500" dirty="0" err="1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HAL_UART_Receive_IT</a:t>
            </a: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Jednoduchý stavový parser: 0..4 (AA→55→state→seq→chk)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ErrorCallback: abort + re-arm RX (ORE/FE/NE)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12700">
            <a:solidFill>
              <a:srgbClr val="23314F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3" name="Text 1"/>
          <p:cNvSpPr/>
          <p:nvPr/>
        </p:nvSpPr>
        <p:spPr>
          <a:xfrm>
            <a:off x="548640" y="18288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LCD (I2C) – driver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530352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PCF8574 backpack + autodetekcia adresy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1540042"/>
            <a:ext cx="5989320" cy="4048623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23314F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6" name="Text 4"/>
          <p:cNvSpPr/>
          <p:nvPr/>
        </p:nvSpPr>
        <p:spPr>
          <a:xfrm>
            <a:off x="944880" y="1953931"/>
            <a:ext cx="5440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 err="1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Disp_Init</a:t>
            </a:r>
            <a:r>
              <a:rPr lang="en-US" sz="18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2456851"/>
            <a:ext cx="56235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Autodetekcia I2C adresy (0x27, 0x3F, 0x20–0x27)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 sekvencia LCD v 4-bit móde (0x33,0x32,0x28,0x0C...)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Backlight zapnutý, cursor off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77824" y="3909060"/>
            <a:ext cx="5623560" cy="1234440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23314F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9" name="Text 7"/>
          <p:cNvSpPr/>
          <p:nvPr/>
        </p:nvSpPr>
        <p:spPr>
          <a:xfrm>
            <a:off x="1133856" y="3406140"/>
            <a:ext cx="52578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PCF8574 </a:t>
            </a:r>
            <a:r>
              <a:rPr lang="en-US" sz="1300" dirty="0" err="1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mapovanie</a:t>
            </a: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(LCD_MAP=0):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P0=RS, P1=RW, P2=EN, P3=BL, P4..P7=D4..D7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12280" y="1540042"/>
            <a:ext cx="4690872" cy="4373477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23314F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11" name="Text 9"/>
          <p:cNvSpPr/>
          <p:nvPr/>
        </p:nvSpPr>
        <p:spPr>
          <a:xfrm>
            <a:off x="7086600" y="1793911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Zobrazenie stavu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086600" y="2205391"/>
            <a:ext cx="41605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 err="1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Disp_SetState</a:t>
            </a: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() prepíše text len pri zmene stavu.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→ "OPEN"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→ "CLOSED"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MOVEMENT → "IN PROGRESS"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986016" y="3607308"/>
            <a:ext cx="4343400" cy="1901952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23314F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16" name="Shape 14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12700">
            <a:solidFill>
              <a:srgbClr val="23314F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pic>
        <p:nvPicPr>
          <p:cNvPr id="19" name="Obrázok 18" descr="Obrázok, na ktorom je text, kancelárske potreby, vnútri&#10;&#10;Obsah vygenerovaný pomocou AI môže byť nesprávny.">
            <a:extLst>
              <a:ext uri="{FF2B5EF4-FFF2-40B4-BE49-F238E27FC236}">
                <a16:creationId xmlns:a16="http://schemas.microsoft.com/office/drawing/2014/main" id="{49A10568-4E56-3693-F77D-FBF2AAD63E9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18" t="4856" r="492" b="55807"/>
          <a:stretch>
            <a:fillRect/>
          </a:stretch>
        </p:blipFill>
        <p:spPr>
          <a:xfrm>
            <a:off x="7684649" y="3780923"/>
            <a:ext cx="2946133" cy="156891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3" name="Text 1"/>
          <p:cNvSpPr/>
          <p:nvPr/>
        </p:nvSpPr>
        <p:spPr>
          <a:xfrm>
            <a:off x="548640" y="18288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signalizácia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530352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OPEN/CLOSED/MOVEMENT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1143000"/>
            <a:ext cx="11503152" cy="4620126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23314F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6" name="Text 4"/>
          <p:cNvSpPr/>
          <p:nvPr/>
        </p:nvSpPr>
        <p:spPr>
          <a:xfrm>
            <a:off x="960120" y="13258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Stavy LED (</a:t>
            </a:r>
            <a:r>
              <a:rPr lang="en-US" b="1" dirty="0" err="1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r>
              <a:rPr lang="en-US" sz="1800" b="1" dirty="0" err="1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ed.c</a:t>
            </a:r>
            <a:r>
              <a:rPr lang="en-US" sz="18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87931" y="1874520"/>
            <a:ext cx="3474720" cy="3200400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23314F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8" name="Shape 6"/>
          <p:cNvSpPr/>
          <p:nvPr/>
        </p:nvSpPr>
        <p:spPr>
          <a:xfrm>
            <a:off x="1188720" y="2194560"/>
            <a:ext cx="182880" cy="731520"/>
          </a:xfrm>
          <a:prstGeom prst="round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9" name="Text 7"/>
          <p:cNvSpPr/>
          <p:nvPr/>
        </p:nvSpPr>
        <p:spPr>
          <a:xfrm>
            <a:off x="1463040" y="2194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71600" y="274320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Zelená ON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Červená OFF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600200" y="3886200"/>
            <a:ext cx="502920" cy="50292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3314F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12" name="Shape 10"/>
          <p:cNvSpPr/>
          <p:nvPr/>
        </p:nvSpPr>
        <p:spPr>
          <a:xfrm>
            <a:off x="2286000" y="3886200"/>
            <a:ext cx="502920" cy="50292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solidFill>
              <a:srgbClr val="23314F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13" name="Shape 11"/>
          <p:cNvSpPr/>
          <p:nvPr/>
        </p:nvSpPr>
        <p:spPr>
          <a:xfrm>
            <a:off x="4689909" y="1874520"/>
            <a:ext cx="3474720" cy="3200400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23314F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14" name="Shape 12"/>
          <p:cNvSpPr/>
          <p:nvPr/>
        </p:nvSpPr>
        <p:spPr>
          <a:xfrm>
            <a:off x="4983480" y="2194560"/>
            <a:ext cx="182880" cy="731520"/>
          </a:xfrm>
          <a:prstGeom prst="round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15" name="Text 13"/>
          <p:cNvSpPr/>
          <p:nvPr/>
        </p:nvSpPr>
        <p:spPr>
          <a:xfrm>
            <a:off x="5257800" y="2194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166360" y="274320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Zelená OFF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Červená ON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394960" y="3886200"/>
            <a:ext cx="502920" cy="50292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solidFill>
              <a:srgbClr val="23314F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18" name="Shape 16"/>
          <p:cNvSpPr/>
          <p:nvPr/>
        </p:nvSpPr>
        <p:spPr>
          <a:xfrm>
            <a:off x="6080760" y="3886200"/>
            <a:ext cx="502920" cy="50292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23314F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19" name="Shape 17"/>
          <p:cNvSpPr/>
          <p:nvPr/>
        </p:nvSpPr>
        <p:spPr>
          <a:xfrm>
            <a:off x="8491887" y="1874520"/>
            <a:ext cx="3474720" cy="3200400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23314F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20" name="Shape 18"/>
          <p:cNvSpPr/>
          <p:nvPr/>
        </p:nvSpPr>
        <p:spPr>
          <a:xfrm>
            <a:off x="8778240" y="2194560"/>
            <a:ext cx="182880" cy="73152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21" name="Text 19"/>
          <p:cNvSpPr/>
          <p:nvPr/>
        </p:nvSpPr>
        <p:spPr>
          <a:xfrm>
            <a:off x="9052560" y="2194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MOVEMENT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961120" y="274320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Obe blikajú spolu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(perioda 250 ms)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9189720" y="3886200"/>
            <a:ext cx="502920" cy="50292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3314F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24" name="Shape 22"/>
          <p:cNvSpPr/>
          <p:nvPr/>
        </p:nvSpPr>
        <p:spPr>
          <a:xfrm>
            <a:off x="9875520" y="3886200"/>
            <a:ext cx="502920" cy="50292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23314F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26" name="Shape 24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12700">
            <a:solidFill>
              <a:srgbClr val="23314F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3" name="Text 1"/>
          <p:cNvSpPr/>
          <p:nvPr/>
        </p:nvSpPr>
        <p:spPr>
          <a:xfrm>
            <a:off x="548640" y="29718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Zhrnutie a možné vylepšenia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558089" y="1567715"/>
            <a:ext cx="7425891" cy="3874168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23314F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6" name="Text 4"/>
          <p:cNvSpPr/>
          <p:nvPr/>
        </p:nvSpPr>
        <p:spPr>
          <a:xfrm>
            <a:off x="1976147" y="2128388"/>
            <a:ext cx="5166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Zhrnutie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976147" y="2556711"/>
            <a:ext cx="5440680" cy="17752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režim: detekcia auta → otvorenie → zatvorenie po </a:t>
            </a:r>
            <a:r>
              <a:rPr lang="en-US" sz="1500" dirty="0" err="1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oneskorení</a:t>
            </a:r>
            <a:endParaRPr lang="en-US" sz="1500" dirty="0"/>
          </a:p>
          <a:p>
            <a:pPr marL="228600" indent="-2286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režim: tlačidlo toggluje </a:t>
            </a:r>
            <a:r>
              <a:rPr lang="en-US" sz="1500" dirty="0" err="1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stav</a:t>
            </a: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brány</a:t>
            </a:r>
            <a:endParaRPr lang="en-US" sz="1500" dirty="0"/>
          </a:p>
          <a:p>
            <a:pPr marL="228600" indent="-2286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doska dostáva stav cez UART a zobrazuje ho </a:t>
            </a:r>
            <a:r>
              <a:rPr lang="en-US" sz="1500" dirty="0" err="1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</a:t>
            </a: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LCD</a:t>
            </a:r>
            <a:endParaRPr lang="en-US" sz="1500" dirty="0"/>
          </a:p>
          <a:p>
            <a:pPr marL="228600" indent="-2286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 karta ukladá udalosti s </a:t>
            </a:r>
            <a:r>
              <a:rPr lang="en-US" sz="1500" dirty="0" err="1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timestampom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12700">
            <a:solidFill>
              <a:srgbClr val="23314F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77240" y="2560320"/>
            <a:ext cx="106372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ĎAKUJEME ZA POZORNOSŤ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777240" y="4043813"/>
            <a:ext cx="106372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sk-SK" sz="2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Priestor na otázky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12700">
            <a:solidFill>
              <a:srgbClr val="23314F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í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</TotalTime>
  <Words>1588</Words>
  <Application>Microsoft Office PowerPoint</Application>
  <PresentationFormat>Širokouhlá</PresentationFormat>
  <Paragraphs>197</Paragraphs>
  <Slides>20</Slides>
  <Notes>20</Notes>
  <HiddenSlides>0</HiddenSlides>
  <MMClips>0</MMClips>
  <ScaleCrop>false</ScaleCrop>
  <HeadingPairs>
    <vt:vector size="6" baseType="variant">
      <vt:variant>
        <vt:lpstr>Použité písma</vt:lpstr>
      </vt:variant>
      <vt:variant>
        <vt:i4>3</vt:i4>
      </vt:variant>
      <vt:variant>
        <vt:lpstr>Motív</vt:lpstr>
      </vt:variant>
      <vt:variant>
        <vt:i4>1</vt:i4>
      </vt:variant>
      <vt:variant>
        <vt:lpstr>Nadpisy snímok</vt:lpstr>
      </vt:variant>
      <vt:variant>
        <vt:i4>20</vt:i4>
      </vt:variant>
    </vt:vector>
  </HeadingPairs>
  <TitlesOfParts>
    <vt:vector size="24" baseType="lpstr">
      <vt:lpstr>Arial</vt:lpstr>
      <vt:lpstr>Calibri</vt:lpstr>
      <vt:lpstr>Consolas</vt:lpstr>
      <vt:lpstr>Office Theme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ChatGPT</dc:creator>
  <cp:lastModifiedBy>Matus Ondruska</cp:lastModifiedBy>
  <cp:revision>5</cp:revision>
  <dcterms:created xsi:type="dcterms:W3CDTF">2026-02-02T16:02:56Z</dcterms:created>
  <dcterms:modified xsi:type="dcterms:W3CDTF">2026-02-02T20:09:05Z</dcterms:modified>
</cp:coreProperties>
</file>